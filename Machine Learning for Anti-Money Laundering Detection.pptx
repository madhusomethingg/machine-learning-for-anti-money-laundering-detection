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6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681725"/>
            <a:ext cx="9144000" cy="4617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1078992"/>
            <a:ext cx="68580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for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Anti-Money Laundering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4255" y="3145535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From Transaction Classification to Network-Level Signal Discovery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51955" y="3611848"/>
            <a:ext cx="2743200" cy="366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51955" y="3749089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Madhumitha Rajagopal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53710" y="-626085"/>
            <a:ext cx="3291900" cy="3291900"/>
          </a:xfrm>
          <a:prstGeom prst="ellipse">
            <a:avLst/>
          </a:prstGeom>
          <a:solidFill>
            <a:srgbClr val="1A4A9E">
              <a:alpha val="40000"/>
            </a:srgbClr>
          </a:solidFill>
          <a:ln cap="flat" cmpd="sng" w="12700">
            <a:solidFill>
              <a:srgbClr val="1A4A9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285230" y="745515"/>
            <a:ext cx="2011800" cy="2011800"/>
          </a:xfrm>
          <a:prstGeom prst="ellipse">
            <a:avLst/>
          </a:prstGeom>
          <a:solidFill>
            <a:srgbClr val="2E86DE">
              <a:alpha val="30196"/>
            </a:srgbClr>
          </a:solidFill>
          <a:ln cap="flat" cmpd="sng" w="12700">
            <a:solidFill>
              <a:srgbClr val="2E86D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2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Presentation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040" y="100584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" y="11155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Why rule-based AML systems fail at scale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219456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2194560"/>
            <a:ext cx="502920" cy="100584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2194560"/>
            <a:ext cx="502920" cy="100584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30428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" y="26517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IBM AML dataset · 5M+ transactions · Feature 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" y="338328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3383280"/>
            <a:ext cx="502920" cy="100584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3383280"/>
            <a:ext cx="502920" cy="100584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14400" y="349300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ML Model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840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6 models tested · XGBoost results · Key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54880" y="100584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349240" y="11155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Critical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4924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PCA finding → nonlinear signal 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54880" y="219456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349240" y="230428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49240" y="26517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Network topology as predictive signal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383280"/>
            <a:ext cx="4160520" cy="10058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349240" y="349300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349240" y="3840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Limitations · Extensions · Quant applications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5760" y="3200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The Problem: Why Traditional AML Systems Fall Short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5740" y="895071"/>
            <a:ext cx="4023300" cy="3474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5740" y="895071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Rule-Based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40" y="1306551"/>
            <a:ext cx="4023300" cy="43890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180" y="1324839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▸  Flag transactions &gt; $10,000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65740" y="1809471"/>
            <a:ext cx="4023300" cy="43890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180" y="1827759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▸  Flag high-risk country transfers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65740" y="2312391"/>
            <a:ext cx="4023300" cy="43890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180" y="2330679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▸  Flag rapid consecutive transfers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5740" y="2888463"/>
            <a:ext cx="4023300" cy="34740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5740" y="2888463"/>
            <a:ext cx="4023300" cy="34740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Criminals Adapt Easily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5740" y="3299943"/>
            <a:ext cx="4023300" cy="402300"/>
          </a:xfrm>
          <a:prstGeom prst="rect">
            <a:avLst/>
          </a:prstGeom>
          <a:solidFill>
            <a:srgbClr val="EDF2FF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180" y="3318231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✗  Break large sums into small transactions (smurfing)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65740" y="3757143"/>
            <a:ext cx="4023300" cy="402300"/>
          </a:xfrm>
          <a:prstGeom prst="rect">
            <a:avLst/>
          </a:prstGeom>
          <a:solidFill>
            <a:srgbClr val="EDF2FF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180" y="3775431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✗  Route funds through chains of intermediary accounts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65740" y="4214343"/>
            <a:ext cx="4023300" cy="402300"/>
          </a:xfrm>
          <a:prstGeom prst="rect">
            <a:avLst/>
          </a:prstGeom>
          <a:solidFill>
            <a:srgbClr val="EDF2FF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180" y="4232631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✗  Exploit static thresholds with minor variations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0" y="895081"/>
            <a:ext cx="4206300" cy="3474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0" y="895081"/>
            <a:ext cx="4206300" cy="34740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ML-Driven Goal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0" y="1306561"/>
            <a:ext cx="4206300" cy="685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0" y="1306561"/>
            <a:ext cx="73200" cy="6858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09160" y="1352281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Learn from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709160" y="1608313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Model complex nonlinear behaviors that rules cannot encode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0" y="2056369"/>
            <a:ext cx="4206300" cy="685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0" y="2056369"/>
            <a:ext cx="73200" cy="6858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709160" y="2102089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Scale to millions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09160" y="2358121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Process 5M+ transactions efficiently using PySpark 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0" y="2806177"/>
            <a:ext cx="4206300" cy="685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0" y="2806177"/>
            <a:ext cx="73200" cy="6858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709160" y="2851897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Reduce false positives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09160" y="3107929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Precision-driven detection reduces costly manual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0" y="3546850"/>
            <a:ext cx="4206300" cy="10698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663440" y="3573234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Formal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663440" y="3824174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Given a transaction T, classify: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663440" y="4028356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  →  { Legitimate,  Suspicious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663440" y="4320964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CD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ACD4"/>
                </a:solidFill>
                <a:latin typeface="Calibri"/>
                <a:ea typeface="Calibri"/>
                <a:cs typeface="Calibri"/>
                <a:sym typeface="Calibri"/>
              </a:rPr>
              <a:t>A binary classification problem on imbalanced financial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Dataset &amp; Feature Engineering: IBM Anti-Money Laundering Dataset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20040" y="913361"/>
            <a:ext cx="1965900" cy="8688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0040" y="940793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5M+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" y="1397993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468880" y="913361"/>
            <a:ext cx="1965900" cy="86880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468880" y="940793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468880" y="1397993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Suspicious (imbalanced)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617720" y="913361"/>
            <a:ext cx="1965900" cy="8688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617720" y="940793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617720" y="1397993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Raw Features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766560" y="913361"/>
            <a:ext cx="1965900" cy="8688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766560" y="940793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766560" y="1397993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Processing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20040" y="1883093"/>
            <a:ext cx="2697600" cy="3474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20040" y="1883093"/>
            <a:ext cx="269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20040" y="22671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11480" y="22854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Transaction frequency per account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20040" y="27243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" y="27426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Average transaction amount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20040" y="31815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11480" y="31998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Deviation from historical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20040" y="36387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11480" y="36570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Transaction type distribution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200400" y="1883093"/>
            <a:ext cx="2697600" cy="3474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00400" y="1883093"/>
            <a:ext cx="269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00400" y="22671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91840" y="22854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Number of unique counterparties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00400" y="27243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291840" y="27426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Circular money flow patterns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200400" y="31815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291840" y="31998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Repeated transaction loops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200400" y="36387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291840" y="36570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Account fan-in / fan-out ratio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080760" y="1883093"/>
            <a:ext cx="2697600" cy="3474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080760" y="1883093"/>
            <a:ext cx="269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080760" y="22671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172200" y="22854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Burst transaction windows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080760" y="27243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172200" y="27426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Transactions at unusual hours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80760" y="3181541"/>
            <a:ext cx="2697600" cy="4389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172200" y="31998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Day-of-week anomalies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080760" y="3638741"/>
            <a:ext cx="2697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172200" y="3657029"/>
            <a:ext cx="251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→  Time gap between transfers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20050" y="4160900"/>
            <a:ext cx="8503800" cy="45720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2930" y="4184546"/>
            <a:ext cx="1828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Preprocessing Pipeline: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02930" y="4357951"/>
            <a:ext cx="8229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Missing value handling  →  One-Hot Encoding of categoricals  →  PCA for dimensionality reduction  →  80/20 train-test split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Model Selection: Benchmarking Six Algorithms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86010" y="912322"/>
            <a:ext cx="1261800" cy="749700"/>
          </a:xfrm>
          <a:prstGeom prst="rect">
            <a:avLst/>
          </a:prstGeom>
          <a:solidFill>
            <a:srgbClr val="5C6F8A"/>
          </a:solidFill>
          <a:ln cap="flat" cmpd="sng" w="12700">
            <a:solidFill>
              <a:srgbClr val="5C6F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86010" y="91232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749050" y="912322"/>
            <a:ext cx="1261800" cy="749700"/>
          </a:xfrm>
          <a:prstGeom prst="rect">
            <a:avLst/>
          </a:prstGeom>
          <a:solidFill>
            <a:srgbClr val="5C6F8A"/>
          </a:solidFill>
          <a:ln cap="flat" cmpd="sng" w="12700">
            <a:solidFill>
              <a:srgbClr val="5C6F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749050" y="91232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K-Nearest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Neighbors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212090" y="912322"/>
            <a:ext cx="1261800" cy="749700"/>
          </a:xfrm>
          <a:prstGeom prst="rect">
            <a:avLst/>
          </a:prstGeom>
          <a:solidFill>
            <a:srgbClr val="5C6F8A"/>
          </a:solidFill>
          <a:ln cap="flat" cmpd="sng" w="12700">
            <a:solidFill>
              <a:srgbClr val="5C6F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212090" y="91232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675130" y="912322"/>
            <a:ext cx="1261800" cy="749700"/>
          </a:xfrm>
          <a:prstGeom prst="rect">
            <a:avLst/>
          </a:prstGeom>
          <a:solidFill>
            <a:srgbClr val="5C6F8A"/>
          </a:solidFill>
          <a:ln cap="flat" cmpd="sng" w="12700">
            <a:solidFill>
              <a:srgbClr val="5C6F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675130" y="91232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138170" y="912322"/>
            <a:ext cx="1261800" cy="7497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138170" y="91232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601210" y="912322"/>
            <a:ext cx="1261800" cy="7497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601210" y="912322"/>
            <a:ext cx="1261800" cy="749700"/>
          </a:xfrm>
          <a:prstGeom prst="rect">
            <a:avLst/>
          </a:prstGeom>
          <a:solidFill>
            <a:srgbClr val="5C6F8A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(PyTorch)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75" y="1751400"/>
            <a:ext cx="4115700" cy="334200"/>
          </a:xfrm>
          <a:prstGeom prst="rect">
            <a:avLst/>
          </a:prstGeom>
          <a:solidFill>
            <a:srgbClr val="0D2E6E"/>
          </a:solidFill>
          <a:ln cap="flat" cmpd="sng" w="12225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65775" y="1751400"/>
            <a:ext cx="411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8"/>
              <a:buFont typeface="Calibri"/>
              <a:buNone/>
            </a:pPr>
            <a:r>
              <a:rPr b="1" i="0" lang="en-US" sz="105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Performance Comparison</a:t>
            </a:r>
            <a:endParaRPr b="0" i="0" sz="10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65775" y="2120757"/>
            <a:ext cx="1582800" cy="351600"/>
          </a:xfrm>
          <a:prstGeom prst="rect">
            <a:avLst/>
          </a:prstGeom>
          <a:solidFill>
            <a:srgbClr val="1A56C4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005" y="2120757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7"/>
              <a:buFont typeface="Calibri"/>
              <a:buNone/>
            </a:pPr>
            <a:r>
              <a:rPr b="1" i="0" lang="en-US" sz="81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948814" y="2120757"/>
            <a:ext cx="769200" cy="351600"/>
          </a:xfrm>
          <a:prstGeom prst="rect">
            <a:avLst/>
          </a:prstGeom>
          <a:solidFill>
            <a:srgbClr val="1A56C4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994043" y="2120757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7"/>
              <a:buFont typeface="Calibri"/>
              <a:buNone/>
            </a:pPr>
            <a:r>
              <a:rPr b="1" i="0" lang="en-US" sz="81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717718" y="2120757"/>
            <a:ext cx="769200" cy="351600"/>
          </a:xfrm>
          <a:prstGeom prst="rect">
            <a:avLst/>
          </a:prstGeom>
          <a:solidFill>
            <a:srgbClr val="1A56C4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762948" y="2120757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7"/>
              <a:buFont typeface="Calibri"/>
              <a:buNone/>
            </a:pPr>
            <a:r>
              <a:rPr b="1" i="0" lang="en-US" sz="81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486622" y="2120757"/>
            <a:ext cx="995100" cy="351600"/>
          </a:xfrm>
          <a:prstGeom prst="rect">
            <a:avLst/>
          </a:prstGeom>
          <a:solidFill>
            <a:srgbClr val="1A56C4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531852" y="2120757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7"/>
              <a:buFont typeface="Calibri"/>
              <a:buNone/>
            </a:pPr>
            <a:r>
              <a:rPr b="1" i="0" lang="en-US" sz="81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 b="0" i="0" sz="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65775" y="2490114"/>
            <a:ext cx="15828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1005" y="2490114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948814" y="2490114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994043" y="2490114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717718" y="2490114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762948" y="2490114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486622" y="2490114"/>
            <a:ext cx="9951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531852" y="2490114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75" y="2859471"/>
            <a:ext cx="15828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11005" y="2859471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KNN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948814" y="2859471"/>
            <a:ext cx="7692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994043" y="2859471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17718" y="2859471"/>
            <a:ext cx="7692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2762948" y="2859471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486622" y="2859471"/>
            <a:ext cx="9951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531852" y="2859471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Slow on 5M rows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75" y="3228828"/>
            <a:ext cx="15828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11005" y="3228828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948814" y="3228828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994043" y="3228828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78%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717718" y="3228828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62948" y="3228828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486622" y="3228828"/>
            <a:ext cx="9951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531852" y="3228828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High compute cost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75" y="3598186"/>
            <a:ext cx="15828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11005" y="3598186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948814" y="3598186"/>
            <a:ext cx="7692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1994043" y="3598186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17718" y="3598186"/>
            <a:ext cx="7692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762948" y="3598186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486622" y="3598186"/>
            <a:ext cx="995100" cy="3516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531852" y="3598186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Overfits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65775" y="3967543"/>
            <a:ext cx="15828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1005" y="3967543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Neural Network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948814" y="3967543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994043" y="3967543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717718" y="3967543"/>
            <a:ext cx="7692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62948" y="3967543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486622" y="3967543"/>
            <a:ext cx="995100" cy="3516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531852" y="3967543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14"/>
              <a:buFont typeface="Calibri"/>
              <a:buNone/>
            </a:pPr>
            <a:r>
              <a:rPr b="0" i="0" lang="en-US" sz="913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Slower, no gain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65775" y="4336900"/>
            <a:ext cx="1582800" cy="351600"/>
          </a:xfrm>
          <a:prstGeom prst="rect">
            <a:avLst/>
          </a:prstGeom>
          <a:solidFill>
            <a:srgbClr val="E8EEF8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11005" y="4336900"/>
            <a:ext cx="1492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14"/>
              <a:buFont typeface="Calibri"/>
              <a:buNone/>
            </a:pPr>
            <a:r>
              <a:rPr b="1" i="0" lang="en-US" sz="913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XGBoost ★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948814" y="4336900"/>
            <a:ext cx="769200" cy="351600"/>
          </a:xfrm>
          <a:prstGeom prst="rect">
            <a:avLst/>
          </a:prstGeom>
          <a:solidFill>
            <a:srgbClr val="E8EEF8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994043" y="4336900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14"/>
              <a:buFont typeface="Calibri"/>
              <a:buNone/>
            </a:pPr>
            <a:r>
              <a:rPr b="1" i="0" lang="en-US" sz="913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717718" y="4336900"/>
            <a:ext cx="769200" cy="351600"/>
          </a:xfrm>
          <a:prstGeom prst="rect">
            <a:avLst/>
          </a:prstGeom>
          <a:solidFill>
            <a:srgbClr val="E8EEF8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762948" y="4336900"/>
            <a:ext cx="67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14"/>
              <a:buFont typeface="Calibri"/>
              <a:buNone/>
            </a:pPr>
            <a:r>
              <a:rPr b="1" i="0" lang="en-US" sz="913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486622" y="4336900"/>
            <a:ext cx="995100" cy="351600"/>
          </a:xfrm>
          <a:prstGeom prst="rect">
            <a:avLst/>
          </a:prstGeom>
          <a:solidFill>
            <a:srgbClr val="E8EEF8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531852" y="4336900"/>
            <a:ext cx="90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14"/>
              <a:buFont typeface="Calibri"/>
              <a:buNone/>
            </a:pPr>
            <a:r>
              <a:rPr b="1" i="0" lang="en-US" sz="913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Best performer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662594" y="1751400"/>
            <a:ext cx="4115700" cy="334200"/>
          </a:xfrm>
          <a:prstGeom prst="rect">
            <a:avLst/>
          </a:prstGeom>
          <a:solidFill>
            <a:srgbClr val="1A56C4"/>
          </a:solidFill>
          <a:ln cap="flat" cmpd="sng" w="12225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662594" y="1751400"/>
            <a:ext cx="411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8"/>
              <a:buFont typeface="Calibri"/>
              <a:buNone/>
            </a:pPr>
            <a:r>
              <a:rPr b="1" i="0" lang="en-US" sz="105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XGBoost Won</a:t>
            </a:r>
            <a:endParaRPr b="0" i="0" sz="10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662594" y="2147140"/>
            <a:ext cx="4115700" cy="5805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662594" y="2147140"/>
            <a:ext cx="72300" cy="580500"/>
          </a:xfrm>
          <a:prstGeom prst="rect">
            <a:avLst/>
          </a:prstGeom>
          <a:solidFill>
            <a:srgbClr val="2E86DE"/>
          </a:solidFill>
          <a:ln cap="flat" cmpd="sng" w="1222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789237" y="2182317"/>
            <a:ext cx="38895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10"/>
              <a:buFont typeface="Calibri"/>
              <a:buNone/>
            </a:pPr>
            <a:r>
              <a:rPr b="1" i="0" lang="en-US" sz="1009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Sequential boosting</a:t>
            </a:r>
            <a:endParaRPr b="0" i="0" sz="10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89237" y="2402172"/>
            <a:ext cx="3889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66"/>
              <a:buFont typeface="Calibri"/>
              <a:buNone/>
            </a:pPr>
            <a:r>
              <a:rPr b="0" i="0" lang="en-US" sz="864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Each tree corrects errors of the previous — iteratively improving on hard-to-classify transactions</a:t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662594" y="2780323"/>
            <a:ext cx="4115700" cy="5805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662594" y="2780323"/>
            <a:ext cx="72300" cy="580500"/>
          </a:xfrm>
          <a:prstGeom prst="rect">
            <a:avLst/>
          </a:prstGeom>
          <a:solidFill>
            <a:srgbClr val="2E86DE"/>
          </a:solidFill>
          <a:ln cap="flat" cmpd="sng" w="1222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789237" y="2815500"/>
            <a:ext cx="38895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10"/>
              <a:buFont typeface="Calibri"/>
              <a:buNone/>
            </a:pPr>
            <a:r>
              <a:rPr b="1" i="0" lang="en-US" sz="1009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Imbalance robustness</a:t>
            </a:r>
            <a:endParaRPr b="0" i="0" sz="10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789237" y="3035356"/>
            <a:ext cx="3889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66"/>
              <a:buFont typeface="Calibri"/>
              <a:buNone/>
            </a:pPr>
            <a:r>
              <a:rPr b="0" i="0" lang="en-US" sz="864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Naturally handles skewed class distributions without needing explicit resampling</a:t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662594" y="3413507"/>
            <a:ext cx="4115700" cy="580500"/>
          </a:xfrm>
          <a:prstGeom prst="rect">
            <a:avLst/>
          </a:prstGeom>
          <a:solidFill>
            <a:srgbClr val="F4F7FC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662594" y="3413507"/>
            <a:ext cx="72300" cy="580500"/>
          </a:xfrm>
          <a:prstGeom prst="rect">
            <a:avLst/>
          </a:prstGeom>
          <a:solidFill>
            <a:srgbClr val="2E86DE"/>
          </a:solidFill>
          <a:ln cap="flat" cmpd="sng" w="1222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789237" y="3448684"/>
            <a:ext cx="38895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10"/>
              <a:buFont typeface="Calibri"/>
              <a:buNone/>
            </a:pPr>
            <a:r>
              <a:rPr b="1" i="0" lang="en-US" sz="1009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Nonlinear interactions</a:t>
            </a:r>
            <a:endParaRPr b="0" i="0" sz="10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789237" y="3668539"/>
            <a:ext cx="3889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66"/>
              <a:buFont typeface="Calibri"/>
              <a:buNone/>
            </a:pPr>
            <a:r>
              <a:rPr b="0" i="0" lang="en-US" sz="864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Captures complex feature combinations that linear models fundamentally cannot represent</a:t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662594" y="4046691"/>
            <a:ext cx="4115700" cy="5805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662594" y="4046691"/>
            <a:ext cx="72300" cy="580500"/>
          </a:xfrm>
          <a:prstGeom prst="rect">
            <a:avLst/>
          </a:prstGeom>
          <a:solidFill>
            <a:srgbClr val="2E86DE"/>
          </a:solidFill>
          <a:ln cap="flat" cmpd="sng" w="1222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789237" y="4081868"/>
            <a:ext cx="38895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10"/>
              <a:buFont typeface="Calibri"/>
              <a:buNone/>
            </a:pPr>
            <a:r>
              <a:rPr b="1" i="0" lang="en-US" sz="1009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Tabular data dominance</a:t>
            </a:r>
            <a:endParaRPr b="0" i="0" sz="10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789237" y="4301723"/>
            <a:ext cx="3889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66"/>
              <a:buFont typeface="Calibri"/>
              <a:buNone/>
            </a:pPr>
            <a:r>
              <a:rPr b="0" i="0" lang="en-US" sz="864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Deep learning showed no improvement — tree ensembles remain state-of-the-art for financial tabular data</a:t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Key Research Insight: Hidden Complexity in Transaction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65740" y="927672"/>
            <a:ext cx="4434900" cy="3474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65750" y="927675"/>
            <a:ext cx="43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65750" y="1283249"/>
            <a:ext cx="4380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When PCA was  applied to visualize transactions in lower dimensions, fraudulent and non-fraudulent transactions showed significant overlap — they were NOT linearly separable.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44200" y="2071125"/>
            <a:ext cx="4301700" cy="2499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960100" y="929103"/>
            <a:ext cx="3840600" cy="3474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960100" y="929103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960100" y="1331449"/>
            <a:ext cx="3840600" cy="735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983480" y="1348621"/>
            <a:ext cx="73200" cy="7356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097260" y="1377159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Signal is nonlinear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097260" y="1601154"/>
            <a:ext cx="3566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Simple linear boundaries cannot separate suspicious from normal — the patterns are too complex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960100" y="2164001"/>
            <a:ext cx="3840600" cy="735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983480" y="2169487"/>
            <a:ext cx="73200" cy="7356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097260" y="2204869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Laundering is interaction-driven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097260" y="2433725"/>
            <a:ext cx="3566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The signal lives in combinations of features and accounts, not single transaction flags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960100" y="2996576"/>
            <a:ext cx="3840600" cy="735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971790" y="3013752"/>
            <a:ext cx="73200" cy="7356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097260" y="3037443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XGBoost is the right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097260" y="3266299"/>
            <a:ext cx="3566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Tree ensembles capture non-linear feature interactions that linear models fundamentally miss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960100" y="3858025"/>
            <a:ext cx="3840600" cy="7356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051540" y="3888669"/>
            <a:ext cx="36576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"This insight raised a deeper question: are we looking at the right level of abstraction? What if the real signal lives in the network structure — not individual transactions?"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8" title="Screenshot 2026-03-07 at 8.34.07 PM.png"/>
          <p:cNvPicPr preferRelativeResize="0"/>
          <p:nvPr/>
        </p:nvPicPr>
        <p:blipFill rotWithShape="1">
          <a:blip r:embed="rId3">
            <a:alphaModFix/>
          </a:blip>
          <a:srcRect b="0" l="1672" r="0" t="4462"/>
          <a:stretch/>
        </p:blipFill>
        <p:spPr>
          <a:xfrm>
            <a:off x="554537" y="2145927"/>
            <a:ext cx="4081023" cy="2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Research Proposal: Transaction Network Topology as Predictive Signal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20100" y="922101"/>
            <a:ext cx="8503800" cy="5568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05178" y="898380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Research Question: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05175" y="1136075"/>
            <a:ext cx="804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graph-based features extracted from financial transaction networks generate predictive signals for abnormal financial behavior — earlier and more robustly than individual transaction features?</a:t>
            </a:r>
            <a:endParaRPr b="0" i="1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297150" y="1579316"/>
            <a:ext cx="1188600" cy="2454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97145" y="1579323"/>
            <a:ext cx="1188600" cy="4389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97145" y="1579323"/>
            <a:ext cx="1188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52009" y="2073099"/>
            <a:ext cx="107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Build Transaction Graph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51775" y="2586816"/>
            <a:ext cx="1079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Daily directed graph:</a:t>
            </a:r>
            <a:endParaRPr b="0" i="0" sz="850" u="none" cap="none" strike="noStrike">
              <a:solidFill>
                <a:srgbClr val="5C6F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rgbClr val="5C6F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accounts as nodes,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transactions as weighted edges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1504153" y="1999947"/>
            <a:ext cx="118800" cy="146400"/>
          </a:xfrm>
          <a:prstGeom prst="rect">
            <a:avLst/>
          </a:prstGeom>
          <a:solidFill>
            <a:srgbClr val="8AACD4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623025" y="1579316"/>
            <a:ext cx="1188600" cy="2454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623025" y="1579323"/>
            <a:ext cx="1188600" cy="4389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623025" y="1579323"/>
            <a:ext cx="1188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677889" y="2073099"/>
            <a:ext cx="107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Extract Network Features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1677764" y="2320086"/>
            <a:ext cx="1079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PageRank · Betweenness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centrality · Eigenvector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centrality · Clustering coeff.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830033" y="1999947"/>
            <a:ext cx="118800" cy="146400"/>
          </a:xfrm>
          <a:prstGeom prst="rect">
            <a:avLst/>
          </a:prstGeom>
          <a:solidFill>
            <a:srgbClr val="8AACD4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2948900" y="1579317"/>
            <a:ext cx="1188600" cy="2454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2948905" y="1579323"/>
            <a:ext cx="1188600" cy="4389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2948905" y="1579323"/>
            <a:ext cx="1188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3003769" y="2073099"/>
            <a:ext cx="107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Graph Embeddings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003644" y="2292162"/>
            <a:ext cx="1079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Node2Vec / DeepWalk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convert topology into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dense feature vectors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155913" y="1999947"/>
            <a:ext cx="118800" cy="146400"/>
          </a:xfrm>
          <a:prstGeom prst="rect">
            <a:avLst/>
          </a:prstGeom>
          <a:solidFill>
            <a:srgbClr val="8AACD4"/>
          </a:solidFill>
          <a:ln cap="flat" cmpd="sng" w="12700">
            <a:solidFill>
              <a:srgbClr val="8AA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274775" y="1579316"/>
            <a:ext cx="1188600" cy="2454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274785" y="1579323"/>
            <a:ext cx="1188600" cy="43890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274785" y="1579323"/>
            <a:ext cx="1188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329649" y="2073099"/>
            <a:ext cx="107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Generate Signals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329649" y="2148686"/>
            <a:ext cx="1079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Embeddings fed into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classifier to flag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suspicious clusters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554950" y="1589238"/>
            <a:ext cx="3269100" cy="2454600"/>
          </a:xfrm>
          <a:prstGeom prst="rect">
            <a:avLst/>
          </a:prstGeom>
          <a:solidFill>
            <a:srgbClr val="071A4A"/>
          </a:solidFill>
          <a:ln cap="flat" cmpd="sng" w="1175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94042" rotWithShape="0" algn="bl" dir="8100000" dist="35266">
              <a:srgbClr val="000000">
                <a:alpha val="10196"/>
              </a:srgbClr>
            </a:outerShdw>
          </a:effectLst>
        </p:spPr>
        <p:txBody>
          <a:bodyPr anchorCtr="0" anchor="ctr" bIns="84625" lIns="84625" spcFirstLastPara="1" rIns="84625" wrap="square" tIns="8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t/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554950" y="1590922"/>
            <a:ext cx="3269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3"/>
              <a:buFont typeface="Calibri"/>
              <a:buNone/>
            </a:pPr>
            <a:r>
              <a:rPr b="1" i="0" lang="en-US" sz="833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Transaction Network Structure</a:t>
            </a:r>
            <a:endParaRPr b="0" i="0" sz="8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9"/>
          <p:cNvGrpSpPr/>
          <p:nvPr/>
        </p:nvGrpSpPr>
        <p:grpSpPr>
          <a:xfrm>
            <a:off x="5770200" y="3678062"/>
            <a:ext cx="2838600" cy="323100"/>
            <a:chOff x="5770200" y="3619950"/>
            <a:chExt cx="2838600" cy="323100"/>
          </a:xfrm>
        </p:grpSpPr>
        <p:sp>
          <p:nvSpPr>
            <p:cNvPr id="360" name="Google Shape;360;p9"/>
            <p:cNvSpPr/>
            <p:nvPr/>
          </p:nvSpPr>
          <p:spPr>
            <a:xfrm>
              <a:off x="5814275" y="3662525"/>
              <a:ext cx="2754300" cy="274200"/>
            </a:xfrm>
            <a:prstGeom prst="rect">
              <a:avLst/>
            </a:prstGeom>
            <a:solidFill>
              <a:srgbClr val="0D1F4A"/>
            </a:solidFill>
            <a:ln cap="flat" cmpd="sng" w="11750">
              <a:solidFill>
                <a:srgbClr val="3A5A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25" lIns="84625" spcFirstLastPara="1" rIns="84625" wrap="square" tIns="84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770200" y="3619950"/>
              <a:ext cx="2838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00" lIns="84625" spcFirstLastPara="1" rIns="84625" wrap="square" tIns="42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86DE"/>
                </a:buClr>
                <a:buSzPts val="694"/>
                <a:buFont typeface="Calibri"/>
                <a:buNone/>
              </a:pPr>
              <a:r>
                <a:rPr b="1" i="0" lang="en-US" sz="694" u="none" cap="none" strike="noStrike">
                  <a:solidFill>
                    <a:srgbClr val="2E86DE"/>
                  </a:solidFill>
                  <a:latin typeface="Calibri"/>
                  <a:ea typeface="Calibri"/>
                  <a:cs typeface="Calibri"/>
                  <a:sym typeface="Calibri"/>
                </a:rPr>
                <a:t>● </a:t>
              </a:r>
              <a:r>
                <a:rPr b="0" i="0" lang="en-US" sz="694" u="none" cap="none" strike="noStrike">
                  <a:solidFill>
                    <a:srgbClr val="C8DEFF"/>
                  </a:solidFill>
                  <a:latin typeface="Calibri"/>
                  <a:ea typeface="Calibri"/>
                  <a:cs typeface="Calibri"/>
                  <a:sym typeface="Calibri"/>
                </a:rPr>
                <a:t>Nodes = Accounts    </a:t>
              </a:r>
              <a:r>
                <a:rPr b="1" i="0" lang="en-US" sz="694" u="none" cap="none" strike="noStrike">
                  <a:solidFill>
                    <a:srgbClr val="2E86DE"/>
                  </a:solidFill>
                  <a:latin typeface="Calibri"/>
                  <a:ea typeface="Calibri"/>
                  <a:cs typeface="Calibri"/>
                  <a:sym typeface="Calibri"/>
                </a:rPr>
                <a:t>→ </a:t>
              </a:r>
              <a:r>
                <a:rPr b="0" i="0" lang="en-US" sz="694" u="none" cap="none" strike="noStrike">
                  <a:solidFill>
                    <a:srgbClr val="C8DEFF"/>
                  </a:solidFill>
                  <a:latin typeface="Calibri"/>
                  <a:ea typeface="Calibri"/>
                  <a:cs typeface="Calibri"/>
                  <a:sym typeface="Calibri"/>
                </a:rPr>
                <a:t>Edges = Transactions    </a:t>
              </a:r>
              <a:r>
                <a:rPr b="1" i="0" lang="en-US" sz="694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⟳ </a:t>
              </a:r>
              <a:r>
                <a:rPr b="0" i="0" lang="en-US" sz="694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Cycle = Laundering Ring</a:t>
              </a:r>
              <a:endParaRPr b="0" i="0" sz="6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9"/>
          <p:cNvSpPr/>
          <p:nvPr/>
        </p:nvSpPr>
        <p:spPr>
          <a:xfrm>
            <a:off x="320090" y="4142497"/>
            <a:ext cx="8503800" cy="47550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59895" y="4134354"/>
            <a:ext cx="1691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Why this is novel: 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1577300" y="4170155"/>
            <a:ext cx="6876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Laundering rings often form tightly connected subgraphs. Network metrics such as centrality and PageRank can expose coordinated financial activity earlier than transaction-level signals alone — catching suspicious behavior before it becomes detectable at the transaction level.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9"/>
          <p:cNvGrpSpPr/>
          <p:nvPr/>
        </p:nvGrpSpPr>
        <p:grpSpPr>
          <a:xfrm>
            <a:off x="5998301" y="1844032"/>
            <a:ext cx="2401093" cy="1902731"/>
            <a:chOff x="5733288" y="1965960"/>
            <a:chExt cx="2862192" cy="2267856"/>
          </a:xfrm>
        </p:grpSpPr>
        <p:cxnSp>
          <p:nvCxnSpPr>
            <p:cNvPr id="366" name="Google Shape;366;p9"/>
            <p:cNvCxnSpPr/>
            <p:nvPr/>
          </p:nvCxnSpPr>
          <p:spPr>
            <a:xfrm>
              <a:off x="6611857" y="2580271"/>
              <a:ext cx="218100" cy="1521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7" name="Google Shape;367;p9"/>
            <p:cNvCxnSpPr/>
            <p:nvPr/>
          </p:nvCxnSpPr>
          <p:spPr>
            <a:xfrm flipH="1" rot="10800000">
              <a:off x="7490795" y="2578597"/>
              <a:ext cx="225000" cy="1554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8" name="Google Shape;368;p9"/>
            <p:cNvCxnSpPr/>
            <p:nvPr/>
          </p:nvCxnSpPr>
          <p:spPr>
            <a:xfrm>
              <a:off x="8046720" y="2752344"/>
              <a:ext cx="0" cy="4299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9" name="Google Shape;369;p9"/>
            <p:cNvCxnSpPr/>
            <p:nvPr/>
          </p:nvCxnSpPr>
          <p:spPr>
            <a:xfrm rot="10800000">
              <a:off x="7489273" y="3193596"/>
              <a:ext cx="228000" cy="1599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70" name="Google Shape;370;p9"/>
            <p:cNvCxnSpPr/>
            <p:nvPr/>
          </p:nvCxnSpPr>
          <p:spPr>
            <a:xfrm flipH="1">
              <a:off x="6610336" y="3195213"/>
              <a:ext cx="221100" cy="1566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71" name="Google Shape;371;p9"/>
            <p:cNvCxnSpPr/>
            <p:nvPr/>
          </p:nvCxnSpPr>
          <p:spPr>
            <a:xfrm rot="10800000">
              <a:off x="6281928" y="2752212"/>
              <a:ext cx="0" cy="429900"/>
            </a:xfrm>
            <a:prstGeom prst="straightConnector1">
              <a:avLst/>
            </a:prstGeom>
            <a:noFill/>
            <a:ln cap="flat" cmpd="sng" w="23425">
              <a:solidFill>
                <a:srgbClr val="2E86DE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72" name="Google Shape;372;p9"/>
            <p:cNvSpPr/>
            <p:nvPr/>
          </p:nvSpPr>
          <p:spPr>
            <a:xfrm>
              <a:off x="5897880" y="1965960"/>
              <a:ext cx="768000" cy="768000"/>
            </a:xfrm>
            <a:prstGeom prst="ellipse">
              <a:avLst/>
            </a:prstGeom>
            <a:solidFill>
              <a:srgbClr val="1A56C4"/>
            </a:solidFill>
            <a:ln cap="flat" cmpd="sng" w="10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230" rotWithShape="0" algn="bl" dir="8100000" dist="31961">
                <a:srgbClr val="000000">
                  <a:alpha val="10196"/>
                </a:srgbClr>
              </a:outerShdw>
            </a:effectLst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5897880" y="2185416"/>
              <a:ext cx="76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13"/>
                <a:buFont typeface="Calibri"/>
                <a:buNone/>
              </a:pPr>
              <a:r>
                <a:rPr b="1" i="0" lang="en-US" sz="71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Acct A</a:t>
              </a:r>
              <a:endParaRPr b="0" i="0" sz="71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5733288" y="2779776"/>
              <a:ext cx="10974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300" lIns="76700" spcFirstLastPara="1" rIns="76700" wrap="square" tIns="38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C6F8A"/>
                </a:buClr>
                <a:buSzPts val="629"/>
                <a:buFont typeface="Calibri"/>
                <a:buNone/>
              </a:pPr>
              <a:r>
                <a:rPr b="0" i="1" lang="en-US" sz="629" u="none" cap="none" strike="noStrike">
                  <a:solidFill>
                    <a:srgbClr val="5C6F8A"/>
                  </a:solidFill>
                  <a:latin typeface="Calibri"/>
                  <a:ea typeface="Calibri"/>
                  <a:cs typeface="Calibri"/>
                  <a:sym typeface="Calibri"/>
                </a:rPr>
                <a:t>Origin</a:t>
              </a:r>
              <a:endParaRPr b="0" i="0" sz="62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7662672" y="1965960"/>
              <a:ext cx="768000" cy="768000"/>
            </a:xfrm>
            <a:prstGeom prst="ellipse">
              <a:avLst/>
            </a:prstGeom>
            <a:solidFill>
              <a:srgbClr val="1A56C4"/>
            </a:solidFill>
            <a:ln cap="flat" cmpd="sng" w="10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230" rotWithShape="0" algn="bl" dir="8100000" dist="31961">
                <a:srgbClr val="000000">
                  <a:alpha val="10196"/>
                </a:srgbClr>
              </a:outerShdw>
            </a:effectLst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7662672" y="2185416"/>
              <a:ext cx="76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13"/>
                <a:buFont typeface="Calibri"/>
                <a:buNone/>
              </a:pPr>
              <a:r>
                <a:rPr b="1" i="0" lang="en-US" sz="71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Acct B</a:t>
              </a:r>
              <a:endParaRPr b="0" i="0" sz="71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7498080" y="2779776"/>
              <a:ext cx="10974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300" lIns="76700" spcFirstLastPara="1" rIns="76700" wrap="square" tIns="38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C6F8A"/>
                </a:buClr>
                <a:buSzPts val="629"/>
                <a:buFont typeface="Calibri"/>
                <a:buNone/>
              </a:pPr>
              <a:r>
                <a:rPr b="0" i="1" lang="en-US" sz="629" u="none" cap="none" strike="noStrike">
                  <a:solidFill>
                    <a:srgbClr val="5C6F8A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 b="0" i="0" sz="62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7662672" y="3200400"/>
              <a:ext cx="768000" cy="768000"/>
            </a:xfrm>
            <a:prstGeom prst="ellipse">
              <a:avLst/>
            </a:prstGeom>
            <a:solidFill>
              <a:srgbClr val="3A5A9B"/>
            </a:solidFill>
            <a:ln cap="flat" cmpd="sng" w="10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230" rotWithShape="0" algn="bl" dir="8100000" dist="31961">
                <a:srgbClr val="000000">
                  <a:alpha val="10196"/>
                </a:srgbClr>
              </a:outerShdw>
            </a:effectLst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7662672" y="3419856"/>
              <a:ext cx="76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13"/>
                <a:buFont typeface="Calibri"/>
                <a:buNone/>
              </a:pPr>
              <a:r>
                <a:rPr b="1" i="0" lang="en-US" sz="71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Acct C</a:t>
              </a:r>
              <a:endParaRPr b="0" i="0" sz="71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7498080" y="4014216"/>
              <a:ext cx="10974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300" lIns="76700" spcFirstLastPara="1" rIns="76700" wrap="square" tIns="38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C6F8A"/>
                </a:buClr>
                <a:buSzPts val="629"/>
                <a:buFont typeface="Calibri"/>
                <a:buNone/>
              </a:pPr>
              <a:r>
                <a:rPr b="0" i="1" lang="en-US" sz="629" u="none" cap="none" strike="noStrike">
                  <a:solidFill>
                    <a:srgbClr val="5C6F8A"/>
                  </a:solidFill>
                  <a:latin typeface="Calibri"/>
                  <a:ea typeface="Calibri"/>
                  <a:cs typeface="Calibri"/>
                  <a:sym typeface="Calibri"/>
                </a:rPr>
                <a:t>Layering</a:t>
              </a:r>
              <a:endParaRPr b="0" i="0" sz="62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5897880" y="3200400"/>
              <a:ext cx="768000" cy="768000"/>
            </a:xfrm>
            <a:prstGeom prst="ellipse">
              <a:avLst/>
            </a:prstGeom>
            <a:solidFill>
              <a:srgbClr val="3A5A9B"/>
            </a:solidFill>
            <a:ln cap="flat" cmpd="sng" w="10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230" rotWithShape="0" algn="bl" dir="8100000" dist="31961">
                <a:srgbClr val="000000">
                  <a:alpha val="10196"/>
                </a:srgbClr>
              </a:outerShdw>
            </a:effectLst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5897880" y="3419856"/>
              <a:ext cx="76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13"/>
                <a:buFont typeface="Calibri"/>
                <a:buNone/>
              </a:pPr>
              <a:r>
                <a:rPr b="1" i="0" lang="en-US" sz="71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Acct D</a:t>
              </a:r>
              <a:endParaRPr b="0" i="0" sz="71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5733288" y="4014216"/>
              <a:ext cx="10974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300" lIns="76700" spcFirstLastPara="1" rIns="76700" wrap="square" tIns="38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C6F8A"/>
                </a:buClr>
                <a:buSzPts val="629"/>
                <a:buFont typeface="Calibri"/>
                <a:buNone/>
              </a:pPr>
              <a:r>
                <a:rPr b="0" i="1" lang="en-US" sz="629" u="none" cap="none" strike="noStrike">
                  <a:solidFill>
                    <a:srgbClr val="5C6F8A"/>
                  </a:solidFill>
                  <a:latin typeface="Calibri"/>
                  <a:ea typeface="Calibri"/>
                  <a:cs typeface="Calibri"/>
                  <a:sym typeface="Calibri"/>
                </a:rPr>
                <a:t>Exit</a:t>
              </a:r>
              <a:endParaRPr b="0" i="0" sz="62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6775704" y="2578608"/>
              <a:ext cx="768000" cy="768000"/>
            </a:xfrm>
            <a:prstGeom prst="ellipse">
              <a:avLst/>
            </a:prstGeom>
            <a:solidFill>
              <a:srgbClr val="2E86DE"/>
            </a:solidFill>
            <a:ln cap="flat" cmpd="sng" w="10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230" rotWithShape="0" algn="bl" dir="8100000" dist="31961">
                <a:srgbClr val="000000">
                  <a:alpha val="10196"/>
                </a:srgbClr>
              </a:outerShdw>
            </a:effectLst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6775704" y="2798064"/>
              <a:ext cx="76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13"/>
                <a:buFont typeface="Calibri"/>
                <a:buNone/>
              </a:pPr>
              <a:r>
                <a:rPr b="1" i="0" lang="en-US" sz="71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HUB</a:t>
              </a:r>
              <a:endParaRPr b="0" i="0" sz="71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6611112" y="3392424"/>
              <a:ext cx="10974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300" lIns="76700" spcFirstLastPara="1" rIns="76700" wrap="square" tIns="38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C6F8A"/>
                </a:buClr>
                <a:buSzPts val="629"/>
                <a:buFont typeface="Calibri"/>
                <a:buNone/>
              </a:pPr>
              <a:r>
                <a:rPr b="0" i="1" lang="en-US" sz="629" u="none" cap="none" strike="noStrike">
                  <a:solidFill>
                    <a:srgbClr val="5C6F8A"/>
                  </a:solidFill>
                  <a:latin typeface="Calibri"/>
                  <a:ea typeface="Calibri"/>
                  <a:cs typeface="Calibri"/>
                  <a:sym typeface="Calibri"/>
                </a:rPr>
                <a:t>High PageRank</a:t>
              </a:r>
              <a:endParaRPr b="0" i="0" sz="62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Network Feature Engineering: What the Graph Tells Us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365700" y="987175"/>
            <a:ext cx="4023600" cy="1795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65600" y="987175"/>
            <a:ext cx="4023600" cy="4023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11430" y="1042044"/>
            <a:ext cx="292500" cy="29250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11430" y="1042044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77190" y="987180"/>
            <a:ext cx="352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PageRank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457150" y="1444380"/>
            <a:ext cx="379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Accounts connected to many influential nodes receive higher PageRank — reflecting their structural importance in the transaction network.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53832" y="2184157"/>
            <a:ext cx="3840600" cy="475500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46520" y="2201603"/>
            <a:ext cx="370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Signal: </a:t>
            </a:r>
            <a:r>
              <a:rPr b="0" i="0" lang="en-US" sz="9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Dormant account suddenly becomes central in the transaction network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663450" y="990337"/>
            <a:ext cx="3977700" cy="1795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663450" y="995034"/>
            <a:ext cx="3977700" cy="4023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4754880" y="1049903"/>
            <a:ext cx="292500" cy="29250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754880" y="1049903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120640" y="995039"/>
            <a:ext cx="352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Betweenness Centrality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800600" y="1452239"/>
            <a:ext cx="379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Measures how often an account acts as a bridge between senders and receivers across the network.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777650" y="2201788"/>
            <a:ext cx="3776400" cy="457200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771420" y="2208003"/>
            <a:ext cx="370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Signal: </a:t>
            </a:r>
            <a:r>
              <a:rPr b="0" i="0" lang="en-US" sz="9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High betweenness with low transaction volume → potential layering account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365650" y="2947199"/>
            <a:ext cx="4023600" cy="16401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365650" y="2947200"/>
            <a:ext cx="4023600" cy="4023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11480" y="3002072"/>
            <a:ext cx="292500" cy="29250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11480" y="3002072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77240" y="2947208"/>
            <a:ext cx="352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Coefficient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57200" y="3404408"/>
            <a:ext cx="379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Measures how tightly connected an account's neighbors are — high values indicate dense, self-referential transaction clusters.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29768" y="4023615"/>
            <a:ext cx="3840600" cy="4755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53311" y="4029846"/>
            <a:ext cx="370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Signal: </a:t>
            </a:r>
            <a:r>
              <a:rPr b="0" i="0" lang="en-US" sz="9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High clustering + circular flows → potential laundering ring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663450" y="2953500"/>
            <a:ext cx="3977700" cy="16401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663450" y="2953499"/>
            <a:ext cx="3977700" cy="40230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754880" y="3008376"/>
            <a:ext cx="292500" cy="29250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754880" y="3008376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120640" y="2953512"/>
            <a:ext cx="352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 Cycles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800600" y="3410712"/>
            <a:ext cx="379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Detects funds returning to their origin account after multiple hops — a hallmark pattern of financial layering.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800600" y="4037850"/>
            <a:ext cx="3703200" cy="475500"/>
          </a:xfrm>
          <a:prstGeom prst="rect">
            <a:avLst/>
          </a:prstGeom>
          <a:solidFill>
            <a:srgbClr val="3A5A9B"/>
          </a:solidFill>
          <a:ln cap="flat" cmpd="sng" w="12700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800595" y="4037859"/>
            <a:ext cx="370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Signal: </a:t>
            </a:r>
            <a:r>
              <a:rPr b="0" i="0" lang="en-US" sz="95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Money completes a circuit back to origin — a hallmark of layering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E6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524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Features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048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4572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6096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7620000" y="0"/>
            <a:ext cx="152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Conclusion &amp; Future Research Directions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1A56C4"/>
          </a:solidFill>
          <a:ln cap="flat" cmpd="sng" w="12700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54898" y="887713"/>
            <a:ext cx="3956100" cy="327600"/>
          </a:xfrm>
          <a:prstGeom prst="rect">
            <a:avLst/>
          </a:prstGeom>
          <a:solidFill>
            <a:srgbClr val="0D2E6E"/>
          </a:solidFill>
          <a:ln cap="flat" cmpd="sng" w="11975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54898" y="887713"/>
            <a:ext cx="3956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Project Demonstrated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54898" y="1267055"/>
            <a:ext cx="3956100" cy="448200"/>
          </a:xfrm>
          <a:prstGeom prst="rect">
            <a:avLst/>
          </a:prstGeom>
          <a:solidFill>
            <a:srgbClr val="F4F7FC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445844" y="1284297"/>
            <a:ext cx="3774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✓  Scalable ML pipeline processing 5M+ transactions via PySpark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54898" y="1767095"/>
            <a:ext cx="3956100" cy="448200"/>
          </a:xfrm>
          <a:prstGeom prst="rect">
            <a:avLst/>
          </a:prstGeom>
          <a:solidFill>
            <a:srgbClr val="FFFFFF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45844" y="1784338"/>
            <a:ext cx="3774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✓  XGBoost achieved best performance (89% accuracy, F1 ≈ 0.85)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54898" y="2267136"/>
            <a:ext cx="3956100" cy="448200"/>
          </a:xfrm>
          <a:prstGeom prst="rect">
            <a:avLst/>
          </a:prstGeom>
          <a:solidFill>
            <a:srgbClr val="F4F7FC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445844" y="2284379"/>
            <a:ext cx="3774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✓  PCA analysis suggested nonlinear signal structure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354898" y="2767177"/>
            <a:ext cx="3956100" cy="448200"/>
          </a:xfrm>
          <a:prstGeom prst="rect">
            <a:avLst/>
          </a:prstGeom>
          <a:solidFill>
            <a:srgbClr val="FFFFFF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445844" y="2784420"/>
            <a:ext cx="3774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E45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1E2E45"/>
                </a:solidFill>
                <a:latin typeface="Calibri"/>
                <a:ea typeface="Calibri"/>
                <a:cs typeface="Calibri"/>
                <a:sym typeface="Calibri"/>
              </a:rPr>
              <a:t>✓  Feature engineering across behavioral, network and temporal dimensions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354898" y="3284460"/>
            <a:ext cx="3956100" cy="327600"/>
          </a:xfrm>
          <a:prstGeom prst="rect">
            <a:avLst/>
          </a:prstGeom>
          <a:solidFill>
            <a:srgbClr val="3A5A9B"/>
          </a:solidFill>
          <a:ln cap="flat" cmpd="sng" w="11975">
            <a:solidFill>
              <a:srgbClr val="3A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354898" y="3284460"/>
            <a:ext cx="3956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54898" y="3663801"/>
            <a:ext cx="3956100" cy="275700"/>
          </a:xfrm>
          <a:prstGeom prst="rect">
            <a:avLst/>
          </a:prstGeom>
          <a:solidFill>
            <a:srgbClr val="E8EEF8"/>
          </a:solidFill>
          <a:ln cap="flat" cmpd="sng" w="11975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445844" y="3681044"/>
            <a:ext cx="37743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849"/>
              <a:buFont typeface="Calibri"/>
              <a:buNone/>
            </a:pPr>
            <a:r>
              <a:rPr b="0" i="0" lang="en-US" sz="847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⚠  Simulated dataset — real-world noise may reduce performance</a:t>
            </a:r>
            <a:endParaRPr b="0" i="0" sz="8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54898" y="3974172"/>
            <a:ext cx="3956100" cy="275700"/>
          </a:xfrm>
          <a:prstGeom prst="rect">
            <a:avLst/>
          </a:prstGeom>
          <a:solidFill>
            <a:srgbClr val="E8EEF8"/>
          </a:solidFill>
          <a:ln cap="flat" cmpd="sng" w="11975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445844" y="3991414"/>
            <a:ext cx="37743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849"/>
              <a:buFont typeface="Calibri"/>
              <a:buNone/>
            </a:pPr>
            <a:r>
              <a:rPr b="0" i="0" lang="en-US" sz="847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⚠  PCA may discard financially meaningful features</a:t>
            </a:r>
            <a:endParaRPr b="0" i="0" sz="8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354898" y="4284542"/>
            <a:ext cx="3956100" cy="275700"/>
          </a:xfrm>
          <a:prstGeom prst="rect">
            <a:avLst/>
          </a:prstGeom>
          <a:solidFill>
            <a:srgbClr val="E8EEF8"/>
          </a:solidFill>
          <a:ln cap="flat" cmpd="sng" w="11975">
            <a:solidFill>
              <a:srgbClr val="C8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45844" y="4301784"/>
            <a:ext cx="37743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9B"/>
              </a:buClr>
              <a:buSzPts val="849"/>
              <a:buFont typeface="Calibri"/>
              <a:buNone/>
            </a:pPr>
            <a:r>
              <a:rPr b="0" i="0" lang="en-US" sz="847" u="none" cap="none" strike="noStrike">
                <a:solidFill>
                  <a:srgbClr val="3A5A9B"/>
                </a:solidFill>
                <a:latin typeface="Calibri"/>
                <a:ea typeface="Calibri"/>
                <a:cs typeface="Calibri"/>
                <a:sym typeface="Calibri"/>
              </a:rPr>
              <a:t>⚠  No temporal graph evolution tracked across time</a:t>
            </a:r>
            <a:endParaRPr b="0" i="0" sz="8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4492938" y="887713"/>
            <a:ext cx="4274400" cy="327600"/>
          </a:xfrm>
          <a:prstGeom prst="rect">
            <a:avLst/>
          </a:prstGeom>
          <a:solidFill>
            <a:srgbClr val="1A56C4"/>
          </a:solidFill>
          <a:ln cap="flat" cmpd="sng" w="11975">
            <a:solidFill>
              <a:srgbClr val="1A56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4492938" y="887713"/>
            <a:ext cx="4274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Research Directions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4492950" y="1267050"/>
            <a:ext cx="4274400" cy="801900"/>
          </a:xfrm>
          <a:prstGeom prst="rect">
            <a:avLst/>
          </a:prstGeom>
          <a:solidFill>
            <a:srgbClr val="F4F7FC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95793" rotWithShape="0" algn="bl" dir="8100000" dist="35922">
              <a:srgbClr val="000000">
                <a:alpha val="10196"/>
              </a:srgbClr>
            </a:outerShdw>
          </a:effectLst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4492952" y="1267050"/>
            <a:ext cx="72900" cy="801900"/>
          </a:xfrm>
          <a:prstGeom prst="rect">
            <a:avLst/>
          </a:prstGeom>
          <a:solidFill>
            <a:srgbClr val="2E86DE"/>
          </a:solidFill>
          <a:ln cap="flat" cmpd="sng" w="1197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629357" y="1298546"/>
            <a:ext cx="4001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Dynamic Graph Signals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4629357" y="1499108"/>
            <a:ext cx="4001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Track how network centrality evolves over rolling windows to detect emerging laundering rings before transaction patterns crystallize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4492950" y="2169093"/>
            <a:ext cx="4274400" cy="801900"/>
          </a:xfrm>
          <a:prstGeom prst="rect">
            <a:avLst/>
          </a:prstGeom>
          <a:solidFill>
            <a:srgbClr val="F4F7FC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95793" rotWithShape="0" algn="bl" dir="8100000" dist="35922">
              <a:srgbClr val="000000">
                <a:alpha val="10196"/>
              </a:srgbClr>
            </a:outerShdw>
          </a:effectLst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4492950" y="2169083"/>
            <a:ext cx="72900" cy="801900"/>
          </a:xfrm>
          <a:prstGeom prst="rect">
            <a:avLst/>
          </a:prstGeom>
          <a:solidFill>
            <a:srgbClr val="2E86DE"/>
          </a:solidFill>
          <a:ln cap="flat" cmpd="sng" w="1197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4629357" y="2235356"/>
            <a:ext cx="4001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GNN-Based Detection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629357" y="2459150"/>
            <a:ext cx="4001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Graph Neural Networks learn directly from the transaction graph, building structural embeddings end-to-end without manual feature design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492950" y="3073185"/>
            <a:ext cx="4274400" cy="801900"/>
          </a:xfrm>
          <a:prstGeom prst="rect">
            <a:avLst/>
          </a:prstGeom>
          <a:solidFill>
            <a:srgbClr val="F4F7FC"/>
          </a:solidFill>
          <a:ln cap="flat" cmpd="sng" w="11975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  <a:effectLst>
            <a:outerShdw blurRad="95793" rotWithShape="0" algn="bl" dir="8100000" dist="35922">
              <a:srgbClr val="000000">
                <a:alpha val="10196"/>
              </a:srgbClr>
            </a:outerShdw>
          </a:effectLst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4492950" y="3073336"/>
            <a:ext cx="72900" cy="801900"/>
          </a:xfrm>
          <a:prstGeom prst="rect">
            <a:avLst/>
          </a:prstGeom>
          <a:solidFill>
            <a:srgbClr val="2E86DE"/>
          </a:solidFill>
          <a:ln cap="flat" cmpd="sng" w="11975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4629357" y="3137535"/>
            <a:ext cx="4001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6E"/>
              </a:buClr>
              <a:buSzPts val="1037"/>
              <a:buFont typeface="Calibri"/>
              <a:buNone/>
            </a:pPr>
            <a:r>
              <a:rPr b="1" i="0" lang="en-US" sz="1037" u="none" cap="none" strike="noStrike">
                <a:solidFill>
                  <a:srgbClr val="0D2E6E"/>
                </a:solidFill>
                <a:latin typeface="Calibri"/>
                <a:ea typeface="Calibri"/>
                <a:cs typeface="Calibri"/>
                <a:sym typeface="Calibri"/>
              </a:rPr>
              <a:t>Temporal Attention Models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629357" y="3303249"/>
            <a:ext cx="4001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896"/>
              <a:buFont typeface="Calibri"/>
              <a:buNone/>
            </a:pPr>
            <a:r>
              <a:rPr b="0" i="0" lang="en-US" sz="895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Apply transformer attention to account transaction sequences, treating financial history as language and laundering as anomalous grammar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492850" y="3940900"/>
            <a:ext cx="4274400" cy="619500"/>
          </a:xfrm>
          <a:prstGeom prst="rect">
            <a:avLst/>
          </a:prstGeom>
          <a:solidFill>
            <a:srgbClr val="0D2E6E"/>
          </a:solidFill>
          <a:ln cap="flat" cmpd="sng" w="11975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  <a:effectLst>
            <a:outerShdw blurRad="95793" rotWithShape="0" algn="bl" dir="8100000" dist="35922">
              <a:srgbClr val="000000">
                <a:alpha val="10196"/>
              </a:srgbClr>
            </a:outerShdw>
          </a:effectLst>
        </p:spPr>
        <p:txBody>
          <a:bodyPr anchorCtr="0" anchor="ctr" bIns="86200" lIns="86200" spcFirstLastPara="1" rIns="86200" wrap="square" tIns="8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583784" y="3966761"/>
            <a:ext cx="40926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200" spcFirstLastPara="1" rIns="86200" wrap="square" tIns="4307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96"/>
              <a:buFont typeface="Calibri"/>
              <a:buNone/>
            </a:pPr>
            <a:r>
              <a:rPr b="0" i="1" lang="en-US" sz="89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"What excites me most about this direction is that the signal isn't hiding in individual transactions. It's in how accounts connect to each other."</a:t>
            </a:r>
            <a:endParaRPr b="0" i="0" sz="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6E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"/>
          <p:cNvSpPr/>
          <p:nvPr/>
        </p:nvSpPr>
        <p:spPr>
          <a:xfrm>
            <a:off x="0" y="4685150"/>
            <a:ext cx="9144000" cy="4581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0D2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685800" y="822960"/>
            <a:ext cx="6858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685800" y="2148840"/>
            <a:ext cx="3200400" cy="456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685800" y="2286000"/>
            <a:ext cx="685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EFF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C8DEFF"/>
                </a:solidFill>
                <a:latin typeface="Calibri"/>
                <a:ea typeface="Calibri"/>
                <a:cs typeface="Calibri"/>
                <a:sym typeface="Calibri"/>
              </a:rPr>
              <a:t>Open for Questions and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6675120" y="-914400"/>
            <a:ext cx="3657600" cy="3657600"/>
          </a:xfrm>
          <a:prstGeom prst="ellipse">
            <a:avLst/>
          </a:prstGeom>
          <a:solidFill>
            <a:srgbClr val="1A4A9E">
              <a:alpha val="40000"/>
            </a:srgbClr>
          </a:solidFill>
          <a:ln cap="flat" cmpd="sng" w="12700">
            <a:solidFill>
              <a:srgbClr val="1A4A9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7589520" y="548640"/>
            <a:ext cx="2011800" cy="2011800"/>
          </a:xfrm>
          <a:prstGeom prst="ellipse">
            <a:avLst/>
          </a:prstGeom>
          <a:solidFill>
            <a:srgbClr val="2E86DE">
              <a:alpha val="30196"/>
            </a:srgbClr>
          </a:solidFill>
          <a:ln cap="flat" cmpd="sng" w="12700">
            <a:solidFill>
              <a:srgbClr val="2E86D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4A9E">
              <a:alpha val="34901"/>
            </a:srgbClr>
          </a:solidFill>
          <a:ln cap="flat" cmpd="sng" w="12700">
            <a:solidFill>
              <a:srgbClr val="1A4A9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